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Spend on industrial belts in glass manufacturing, by country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spend (US$ M)</c:v>
                </c:pt>
              </c:strCache>
            </c:strRef>
          </c:tx>
          <c:spPr>
            <a:solidFill>
              <a:srgbClr val="0B2545"/>
            </a:solidFill>
          </c:spPr>
          <c:dPt>
            <c:idx val="0"/>
            <c:spPr>
              <a:solidFill>
                <a:srgbClr val="F2A93B"/>
              </a:solidFill>
            </c:spPr>
          </c:dPt>
          <c:dPt>
            <c:idx val="1"/>
            <c:spPr>
              <a:solidFill>
                <a:srgbClr val="0B2545"/>
              </a:solidFill>
            </c:spPr>
          </c:dPt>
          <c:dPt>
            <c:idx val="2"/>
            <c:spPr>
              <a:solidFill>
                <a:srgbClr val="0B2545"/>
              </a:solidFill>
            </c:spPr>
          </c:dPt>
          <c:dPt>
            <c:idx val="3"/>
            <c:spPr>
              <a:solidFill>
                <a:srgbClr val="0B2545"/>
              </a:solidFill>
            </c:spPr>
          </c:dPt>
          <c:dPt>
            <c:idx val="4"/>
            <c:spPr>
              <a:solidFill>
                <a:srgbClr val="0B2545"/>
              </a:solidFill>
            </c:spPr>
          </c:dPt>
          <c:dPt>
            <c:idx val="5"/>
            <c:spPr>
              <a:solidFill>
                <a:srgbClr val="0B2545"/>
              </a:solidFill>
            </c:spPr>
          </c:dPt>
          <c:cat>
            <c:strRef>
              <c:f>Sheet1!$A$2:$A$7</c:f>
              <c:strCache>
                <c:ptCount val="6"/>
                <c:pt idx="0">
                  <c:v>China</c:v>
                </c:pt>
                <c:pt idx="1">
                  <c:v>India</c:v>
                </c:pt>
                <c:pt idx="2">
                  <c:v>Japan</c:v>
                </c:pt>
                <c:pt idx="3">
                  <c:v>S. Korea</c:v>
                </c:pt>
                <c:pt idx="4">
                  <c:v>SEA</c:v>
                </c:pt>
                <c:pt idx="5">
                  <c:v>Rest of 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612</c:v>
                </c:pt>
                <c:pt idx="1">
                  <c:v>248</c:v>
                </c:pt>
                <c:pt idx="2">
                  <c:v>178</c:v>
                </c:pt>
                <c:pt idx="3">
                  <c:v>142</c:v>
                </c:pt>
                <c:pt idx="4">
                  <c:v>168</c:v>
                </c:pt>
                <c:pt idx="5">
                  <c:v>72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B2545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dPt>
            <c:idx val="0"/>
            <c:spPr>
              <a:solidFill>
                <a:srgbClr val="0B2545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C90A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0B8C2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CDD3DA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7EAEE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F2A93B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Habasit</c:v>
                </c:pt>
                <c:pt idx="1">
                  <c:v>Forbo Siegling</c:v>
                </c:pt>
                <c:pt idx="2">
                  <c:v>Ammeraal Beltech</c:v>
                </c:pt>
                <c:pt idx="3">
                  <c:v>Volta / Continental</c:v>
                </c:pt>
                <c:pt idx="4">
                  <c:v>Regional players</c:v>
                </c:pt>
                <c:pt idx="5">
                  <c:v>Dynamic Belt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22.0</c:v>
                </c:pt>
                <c:pt idx="1">
                  <c:v>18.5</c:v>
                </c:pt>
                <c:pt idx="2">
                  <c:v>14.0</c:v>
                </c:pt>
                <c:pt idx="3">
                  <c:v>11.5</c:v>
                </c:pt>
                <c:pt idx="4">
                  <c:v>28.0</c:v>
                </c:pt>
                <c:pt idx="5">
                  <c:v>6.0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solidFill>
                <a:srgbClr val="0B2545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APAC industrial-belt spend in glass mfg (US$ 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Hot-end conveyor</c:v>
                </c:pt>
              </c:strCache>
            </c:strRef>
          </c:tx>
          <c:spPr>
            <a:ln w="31750">
              <a:solidFill>
                <a:srgbClr val="0B2545"/>
              </a:solidFill>
            </a:ln>
          </c:spPr>
          <c:marker>
            <c:symbol val="circle"/>
            <c:size val="6"/>
            <c:spPr>
              <a:solidFill>
                <a:srgbClr val="0B2545"/>
              </a:solidFill>
              <a:ln>
                <a:solidFill>
                  <a:srgbClr val="0B2545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480</c:v>
                </c:pt>
                <c:pt idx="1">
                  <c:v>506</c:v>
                </c:pt>
                <c:pt idx="2">
                  <c:v>537</c:v>
                </c:pt>
                <c:pt idx="3">
                  <c:v>568</c:v>
                </c:pt>
                <c:pt idx="4">
                  <c:v>599</c:v>
                </c:pt>
                <c:pt idx="5">
                  <c:v>630</c:v>
                </c:pt>
                <c:pt idx="6">
                  <c:v>660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Cold-end conveyor</c:v>
                </c:pt>
              </c:strCache>
            </c:strRef>
          </c:tx>
          <c:spPr>
            <a:ln w="31750">
              <a:solidFill>
                <a:srgbClr val="7C90A0"/>
              </a:solidFill>
            </a:ln>
          </c:spPr>
          <c:marker>
            <c:symbol val="circle"/>
            <c:size val="6"/>
            <c:spPr>
              <a:solidFill>
                <a:srgbClr val="7C90A0"/>
              </a:solidFill>
              <a:ln>
                <a:solidFill>
                  <a:srgbClr val="7C90A0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320</c:v>
                </c:pt>
                <c:pt idx="1">
                  <c:v>340</c:v>
                </c:pt>
                <c:pt idx="2">
                  <c:v>362</c:v>
                </c:pt>
                <c:pt idx="3">
                  <c:v>385</c:v>
                </c:pt>
                <c:pt idx="4">
                  <c:v>409</c:v>
                </c:pt>
                <c:pt idx="5">
                  <c:v>432</c:v>
                </c:pt>
                <c:pt idx="6">
                  <c:v>456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Transmission &amp; timing</c:v>
                </c:pt>
              </c:strCache>
            </c:strRef>
          </c:tx>
          <c:spPr>
            <a:ln w="31750">
              <a:solidFill>
                <a:srgbClr val="F2A93B"/>
              </a:solidFill>
            </a:ln>
          </c:spPr>
          <c:marker>
            <c:symbol val="circle"/>
            <c:size val="6"/>
            <c:spPr>
              <a:solidFill>
                <a:srgbClr val="F2A93B"/>
              </a:solidFill>
              <a:ln>
                <a:solidFill>
                  <a:srgbClr val="F2A93B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210</c:v>
                </c:pt>
                <c:pt idx="1">
                  <c:v>228</c:v>
                </c:pt>
                <c:pt idx="2">
                  <c:v>248</c:v>
                </c:pt>
                <c:pt idx="3">
                  <c:v>271</c:v>
                </c:pt>
                <c:pt idx="4">
                  <c:v>295</c:v>
                </c:pt>
                <c:pt idx="5">
                  <c:v>319</c:v>
                </c:pt>
                <c:pt idx="6">
                  <c:v>344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3-year cumulative cost — single 600 t/day float line (US$ '000)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Low-cost import</c:v>
                </c:pt>
              </c:strCache>
            </c:strRef>
          </c:tx>
          <c:spPr>
            <a:solidFill>
              <a:srgbClr val="7C90A0"/>
            </a:solidFill>
          </c:spPr>
          <c:cat>
            <c:strRef>
              <c:f>Sheet1!$A$2:$A$6</c:f>
              <c:strCache>
                <c:ptCount val="5"/>
                <c:pt idx="0">
                  <c:v>Capex (belts)</c:v>
                </c:pt>
                <c:pt idx="1">
                  <c:v>Replacement cycles</c:v>
                </c:pt>
                <c:pt idx="2">
                  <c:v>Downtime cost</c:v>
                </c:pt>
                <c:pt idx="3">
                  <c:v>Energy &amp; maint.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540</c:v>
                </c:pt>
                <c:pt idx="2">
                  <c:v>920</c:v>
                </c:pt>
                <c:pt idx="3">
                  <c:v>210</c:v>
                </c:pt>
                <c:pt idx="4">
                  <c:v>1850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Dynamic Belt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Sheet1!$A$2:$A$6</c:f>
              <c:strCache>
                <c:ptCount val="5"/>
                <c:pt idx="0">
                  <c:v>Capex (belts)</c:v>
                </c:pt>
                <c:pt idx="1">
                  <c:v>Replacement cycles</c:v>
                </c:pt>
                <c:pt idx="2">
                  <c:v>Downtime cost</c:v>
                </c:pt>
                <c:pt idx="3">
                  <c:v>Energy &amp; maint.</c:v>
                </c:pt>
                <c:pt idx="4">
                  <c:v>Total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</c:v>
                </c:pt>
                <c:pt idx="1">
                  <c:v>280</c:v>
                </c:pt>
                <c:pt idx="2">
                  <c:v>310</c:v>
                </c:pt>
                <c:pt idx="3">
                  <c:v>160</c:v>
                </c:pt>
                <c:pt idx="4">
                  <c:v>990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0B2545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109728" cy="6858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B2545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71323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DYNAMIC BELT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005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CC"/>
                </a:solidFill>
                <a:latin typeface="Calibri"/>
              </a:rPr>
              <a:t>Engineered drive &amp; conveying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93B"/>
                </a:solidFill>
                <a:latin typeface="Calibri"/>
              </a:rPr>
              <a:t>GLASS MANUFACTURING — APAC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Engineered for Glass.
Proven in APAC.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8C0CC"/>
                </a:solidFill>
                <a:latin typeface="Calibri"/>
              </a:rPr>
              <a:t>A complete belt portfolio for hot-end, cold-end, and power transmission — built for the heat, dust, and uptime demands of modern float and container glass 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822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WHY DYNAMIC BELT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1430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Built for plant &amp; maintenance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011680"/>
            <a:ext cx="31089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2011680"/>
            <a:ext cx="73152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1488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+22%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788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Mean time between belt failures vs market 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011680"/>
            <a:ext cx="31089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2011680"/>
            <a:ext cx="73152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1488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−38%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788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Unplanned line stoppages in pilot plants (12 mo)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291840"/>
            <a:ext cx="31089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3291840"/>
            <a:ext cx="73152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4290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48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0690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Spare-belt delivery across 11 APAC depots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291840"/>
            <a:ext cx="31089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3291840"/>
            <a:ext cx="73152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34290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260 °C+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0690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Continuous-service rating, hot-end aramid 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4846320"/>
            <a:ext cx="6309360" cy="36576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4937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Sales briefing  •  May 2026  •  Plant &amp; Maintenance audience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257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Prepared by Dynamic Belt — APAC Industrial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" cy="14173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4767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Industry 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7744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90A0"/>
                </a:solidFill>
                <a:latin typeface="Calibri"/>
              </a:rPr>
              <a:t>APAC glass demand drivers in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73152" cy="14173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94767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Cost of belt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7744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90A0"/>
                </a:solidFill>
                <a:latin typeface="Calibri"/>
              </a:rPr>
              <a:t>What an hour of downtime really costs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83080"/>
            <a:ext cx="73152" cy="14173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8745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4767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Market &amp; 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37744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90A0"/>
                </a:solidFill>
                <a:latin typeface="Calibri"/>
              </a:rPr>
              <a:t>Sizing, share, and growth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73152" cy="14173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59359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Dynamic Belt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2336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90A0"/>
                </a:solidFill>
                <a:latin typeface="Calibri"/>
              </a:rPr>
              <a:t>Hot-end · cold-end · transmission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42900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429000"/>
            <a:ext cx="73152" cy="14173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5204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59359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Proof &amp; economics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402336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90A0"/>
                </a:solidFill>
                <a:latin typeface="Calibri"/>
              </a:rPr>
              <a:t>Case study, TCO, service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42900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429000"/>
            <a:ext cx="73152" cy="14173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5204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59359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Next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02336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90A0"/>
                </a:solidFill>
                <a:latin typeface="Calibri"/>
              </a:rPr>
              <a:t>90-day pilot proposal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01 · INDUSTRY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APAC is where glass manufacturing is growing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Four demand engines are pulling capacity 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6858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73152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214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Solar glass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China + India PV build-out drives record demand for low-iron rolled glass.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6858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73152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272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Automotive glazing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EV platforms shift volume toward laminated and tempered architectural-grade glass.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6858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73152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3308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Container glass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Beverage &amp; pharma reshoring lifts container output across SEA and India.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6858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73152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389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Architectural / electronics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86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Float capacity additions in CN, IN, ID, VN; display glass reinvesting in KR &amp; JP.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554480"/>
            <a:ext cx="3886200" cy="4297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WHY IT MATTERS FOR BELTS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01168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Each new line adds 1.2–1.6 km of conveyor &amp; transmission belting — and three years of replacement spend.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566160"/>
            <a:ext cx="3474720" cy="2743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703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A93B"/>
                </a:solidFill>
                <a:latin typeface="Calibri"/>
              </a:rPr>
              <a:t>~62%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251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of global flat-glass capacity is in APAC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709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5.4% CAGR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074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industrial-belt spend in APAC glass, 2024–2030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C90A0"/>
                </a:solidFill>
                <a:latin typeface="Calibri"/>
              </a:rPr>
              <a:t>Note: Figures illustrative — based on public industry reporting; replace with internal market intelligence.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02 · THE COST OF BELT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Belts are 0.4% of plant cost — and 100% of the stoppage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Top failure modes we see in APAC glass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943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Thermal degradation of conveyor weave at hot-end transfer points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Edge fraying / tracking drift on lehr take-out and roller tables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Premature V-belt slip on forming-machine drives under load swings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Timing-belt tooth shear on cullet handling and batching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Contamination from broken glass dust ingress on cold-end PU belts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554480"/>
            <a:ext cx="48920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92040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6276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93B"/>
                </a:solidFill>
                <a:latin typeface="Calibri"/>
              </a:rPr>
              <a:t>ONE HOUR OF FLOAT-LINE DOWNTIME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331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Lost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5877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≈ 25 t glass @ $480/t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377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1A1A1A"/>
                </a:solidFill>
                <a:latin typeface="Calibri"/>
              </a:rPr>
              <a:t>$ 12,000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Re-stabilisation losses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278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Tin bath + lehr re-temper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0175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1A1A1A"/>
                </a:solidFill>
                <a:latin typeface="Calibri"/>
              </a:rPr>
              <a:t>$ 9,500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611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Cullet &amp; energy waste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8679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Re-melt + gas spike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6576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1A1A1A"/>
                </a:solidFill>
                <a:latin typeface="Calibri"/>
              </a:rPr>
              <a:t>$ 4,200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2519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Crew &amp; overtime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5079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Maintenance + line crew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297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1A1A1A"/>
                </a:solidFill>
                <a:latin typeface="Calibri"/>
              </a:rPr>
              <a:t>$ 1,800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983480"/>
            <a:ext cx="4480560" cy="3657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5074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Total /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50292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D64545"/>
                </a:solidFill>
                <a:latin typeface="Calibri"/>
              </a:rPr>
              <a:t>$ 27,500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C90A0"/>
                </a:solidFill>
                <a:latin typeface="Calibri"/>
              </a:rPr>
              <a:t>Note: Illustrative model; calibrate with the customer's own OEE &amp; energy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03 · MARKET SIZING — APAC,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Industrial belts for glass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3152" cy="10058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$ 1.42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TAM — APAC industrial belts in glass (2026)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9164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73152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$ 0.86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SAM — hot-end + cold-end conveying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9164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691640"/>
            <a:ext cx="73152" cy="10058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$ 0.31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SOM — Dynamic Belt 3-yr addressable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691640"/>
            <a:ext cx="29260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691640"/>
            <a:ext cx="73152" cy="1005840"/>
          </a:xfrm>
          <a:prstGeom prst="rect">
            <a:avLst/>
          </a:prstGeom>
          <a:solidFill>
            <a:srgbClr val="3DA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8288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5.4%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6888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CAGR 2024–2030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880360"/>
          <a:ext cx="76809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ectangle 22"/>
          <p:cNvSpPr/>
          <p:nvPr/>
        </p:nvSpPr>
        <p:spPr>
          <a:xfrm>
            <a:off x="8275320" y="2880360"/>
            <a:ext cx="3474720" cy="3017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017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WHERE TO 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337560"/>
            <a:ext cx="3200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FFFFFF"/>
                </a:solidFill>
                <a:latin typeface="Calibri"/>
              </a:rPr>
              <a:t>China: scale, but margin pressure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FFFFFF"/>
                </a:solidFill>
                <a:latin typeface="Calibri"/>
              </a:rPr>
              <a:t>India: highest growth (8.1% CAGR)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FFFFFF"/>
                </a:solidFill>
                <a:latin typeface="Calibri"/>
              </a:rPr>
              <a:t>SEA: white space, fewer incumbents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FFFFFF"/>
                </a:solidFill>
                <a:latin typeface="Calibri"/>
              </a:rPr>
              <a:t>JP/KR: premium specs, sticky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C90A0"/>
                </a:solidFill>
                <a:latin typeface="Calibri"/>
              </a:rPr>
              <a:t>Note: Illustrative figures. Sources to be replaced with Mordor / Grand View internal subscription data before issuing externally.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03 · MARKET SHARE — APAC GLASS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Fragmented mid-tier; opening for a focused specialist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5943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0" y="1645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Read across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9659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Top-3 globals own 54.5% — the rest is contestable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2834640"/>
            <a:ext cx="4846320" cy="36576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971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Globals optimise for breadth, not glass-specific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26440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Hot-end aramid weaves and cullet-resistant PU are still treated as adjacencies.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931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Regional players win on price, lose on uptime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22452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$/m looks attractive — replacement cycles are 30–45% shorter.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8920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Dynamic Belt is the only APAC-headquartered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518464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Glass-line engineering depth + 48-hour spare delivery.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C90A0"/>
                </a:solidFill>
                <a:latin typeface="Calibri"/>
              </a:rPr>
              <a:t>Note: Share estimates illustrative; validate vs internal CRM win/loss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03 · GROWTH OUTLOOK 2024–2030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Hot-end is biggest, transmission is fastest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91640"/>
          <a:ext cx="7772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CAGR 2024–2030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2057400"/>
            <a:ext cx="3246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2057400"/>
            <a:ext cx="73152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Hot-end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423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5.5%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063240"/>
            <a:ext cx="3246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3063240"/>
            <a:ext cx="73152" cy="914400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Cold-end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4290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7C90A0"/>
                </a:solidFill>
                <a:latin typeface="Calibri"/>
              </a:rPr>
              <a:t>6.1%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069080"/>
            <a:ext cx="3246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4069080"/>
            <a:ext cx="73152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4160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Transmission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4348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2A93B"/>
                </a:solidFill>
                <a:latin typeface="Calibri"/>
              </a:rPr>
              <a:t>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C90A0"/>
                </a:solidFill>
                <a:latin typeface="Calibri"/>
              </a:rPr>
              <a:t>Note: Illustrative trend; validate against subscription forecasts (Mordor, Grand View, IBISWorld).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04 · PORTFOLIO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One supplier across the entire glass plant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7033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703320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703320" cy="457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Hot-end conveyor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C90A0"/>
                </a:solidFill>
                <a:latin typeface="Calibri"/>
              </a:rPr>
              <a:t>Lehr · annealing · tempering ·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32461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Aramid (Kevlar®) woven belts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Fiberglass + PTFE coatings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PBO ultra-high-temp belts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Continuous service to 290 °C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Custom widths to 4,200 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37033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37360"/>
            <a:ext cx="3703320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2286000"/>
            <a:ext cx="3703320" cy="45720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8288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Cold-end conveyor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5059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C90A0"/>
                </a:solidFill>
                <a:latin typeface="Calibri"/>
              </a:rPr>
              <a:t>Inspection · packaging · palletising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834640"/>
            <a:ext cx="32461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Modular plastic (POM, PP, PE)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PU monolithic, FDA-grade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Rubber multi-ply with cleat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Anti-static &amp; cleanable variants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Cullet-shard resistant tops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737360"/>
            <a:ext cx="37033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1737360"/>
            <a:ext cx="3703320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2286000"/>
            <a:ext cx="3703320" cy="457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8288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Transmission &amp; timing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45059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C90A0"/>
                </a:solidFill>
                <a:latin typeface="Calibri"/>
              </a:rPr>
              <a:t>Forming · batching · ancillary drives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834640"/>
            <a:ext cx="32461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Wedge &amp; narrow-V (SPZ–SPC)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Classical V-belts (A–E)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HTD, GT3, RPP timing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Polyurethane reinforced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Matched sets for multi-groove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04 · HOT-END CONVEYOR BELTS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Where cheap belts go to die — we don't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Spec families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Fibre / coating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Continuous T°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DB-AR 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Aramid, double-layer, PTFE-impregnated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220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Lehr exit, take-out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DB-AR 260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Aramid + fiberglass hybrid weave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260 °C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Annealing-lehr in-feed, transfer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DB-FG 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Fiberglass core, PTFE coating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290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Tempering line transfer, hot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DB-PBO 340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PBO (Zylon®) ultra-high-temp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340 °C peak / 300 °C cont.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Direct hot-end transfer, special builds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Engineering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Edge sealing &amp; sealed-edge stitching to resist fraying at lehr exit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Anti-stick PTFE topcoats for sticky tin-bath transfer points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Custom widths up to 4.2 m, lengths splice-on-site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554480"/>
            <a:ext cx="3474720" cy="4572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05740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PBO outperforms aramid by ~80 °C and lasts 2–3× longer at lehr exits.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3657600"/>
            <a:ext cx="3200400" cy="2743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794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2A93B"/>
                </a:solidFill>
                <a:latin typeface="Calibri"/>
              </a:rPr>
              <a:t>+22%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average MTBF uplift vs market spec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709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93B"/>
                </a:solidFill>
                <a:latin typeface="Calibri"/>
              </a:rPr>
              <a:t>ISO 9001 · ISO 14001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029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All hot-end belts batch-tracked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04 · COLD-END CONVEYOR BELTS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Throughput, hygiene, and shard resistance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7772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 surface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DB-MP Modular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POM / PP / 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Flat / friction / 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Cold-end take-away, accumulation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DB-PU Mono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Monolithic polyurethane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Smooth / textured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Inspection, sorting, hygienic zones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DB-RB Cleat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EPDM rubber, multi-ply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Cleated / flat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Cullet handling, incline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DB-AS Anti-Static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PU + carbon-loaded fabric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Smooth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Electronics-grade glass packing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4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Designed-in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Cullet-shard puncture resistance verified to 6 mm shard impact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Cleanable surfaces — washdown to 70 °C without delamination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FDA / EU 10/2011 compliant for adjacent food-contact 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691640"/>
            <a:ext cx="33375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691640"/>
            <a:ext cx="333756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764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QUICK SPECS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377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Width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377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2545"/>
                </a:solidFill>
                <a:latin typeface="Calibri"/>
              </a:rPr>
              <a:t>300 – 3,200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7889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Belt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2545"/>
                </a:solidFill>
                <a:latin typeface="Calibri"/>
              </a:rPr>
              <a:t>up to 90 m /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200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Min radius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2004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2545"/>
                </a:solidFill>
                <a:latin typeface="Calibri"/>
              </a:rPr>
              <a:t>down to 0.4 m (PU)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6118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Splicing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6118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2545"/>
                </a:solidFill>
                <a:latin typeface="Calibri"/>
              </a:rPr>
              <a:t>endless / mechanical /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023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Lead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40233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2545"/>
                </a:solidFill>
                <a:latin typeface="Calibri"/>
              </a:rPr>
              <a:t>stock SKUs in 48 h 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04 · TRANSMISSION V-BELTS &amp; TIMING BELTS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Forming-machine reliability starts at the drive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7772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Series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Power range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 drive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DB-V Wedge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SPZ / SPA / SPB / SPC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0.5 – 750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Forming machines, batch mixers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DB-V Classical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/ B / C / D / 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0.4 – 350 kW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Cullet crushers, fans, pumps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DB-T HTD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5M / 8M / 14M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 200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Lehr drive, conveyor head pulleys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DB-T GT3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8MGT / 14MGT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 600 kW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High-torque forming drives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DB-T 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T5 / T10 / AT10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Positioning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Cullet handlers, batching dosers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83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Performance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Matched sets within ±0.3% length tolerance for multi-groove drives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Heat-stabilised compounds for engine-room ambients above 60 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691640"/>
            <a:ext cx="3337560" cy="4572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DB vs MARKET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317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Service 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331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F2A93B"/>
                </a:solidFill>
                <a:latin typeface="Calibri"/>
              </a:rPr>
              <a:t>+24%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260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Slip @ rated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2926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F2A93B"/>
                </a:solidFill>
                <a:latin typeface="Calibri"/>
              </a:rPr>
              <a:t>−35%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520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Length tolerance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3520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F2A93B"/>
                </a:solidFill>
                <a:latin typeface="Calibri"/>
              </a:rPr>
              <a:t>±0.3%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1148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Quiet 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4114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F2A93B"/>
                </a:solidFill>
                <a:latin typeface="Calibri"/>
              </a:rPr>
              <a:t>−4 dB(A)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983480"/>
            <a:ext cx="2971800" cy="2743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50749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Result: drive-belt replacement intervals extend from 14 → 21 months on typical forming machines.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04 · WHY DYNAMIC BELT —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Engineered for glass, not just sold to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Market average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Dynamic Belt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Operational impact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Hot-end max continuous T°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230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290 °C (PBO: 340 °C peak)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Single belt covers lehr-exit + transfer, no inventory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Mean time between failures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+22% on hot-end / +24% on V-belts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Fewer planned shutdowns; longer PM intervals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APAC stock lead-time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3–6 weeks ex-EU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48 h from 11 APAC depots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Spare-belt buffer cut from 5 weeks to 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Minimum order quantity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Full coil / pallet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Per-metre cut + endless splice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Working capital tied up in spares drops 30–40%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Engineering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Spec sheet +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On-site survey + IoT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Belt selection matched to actual line profile, not catalogue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Warranty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12 months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24 months on hot-end, 36 on transmission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Risk shifts to supplier; CFO-friendly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B2545"/>
                </a:solidFill>
                <a:latin typeface="Calibri"/>
              </a:rPr>
              <a:t>Net effect: lower OEE losses, smaller spare-parts working capital, fewer vendor relationships to manage.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05 · CASE STUDY — APAC FLOAT GLASS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Tier-1 architectural glass producer, 600 t/day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Lehr-exit aramid belts failing at 9–11 months. 6 unplanned stoppages in 12 months. Competitor V-belt sets slipping under load swings on three forming machines.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Switched lehr-exit and transfer belts to DB-AR 260 + DB-PBO 340. Replaced V-belt sets with matched DB-V Wedge SPC. On-site engineer instrumented two belts with IoT temperature &amp; elongation sensors.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RESULT (12 MONTHS)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Belt-related unplanned stoppages cut from 6 → 1. Mean belt life on lehr exit rose from 10 to 17 months. Combined annual savings $480K (downtime + spares + energy).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691640"/>
            <a:ext cx="3520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691640"/>
            <a:ext cx="73152" cy="10058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−38%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Belt-related unplanned stoppages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807208"/>
            <a:ext cx="3520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807208"/>
            <a:ext cx="73152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916936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+22%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4015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Mean time between belt failures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922776"/>
            <a:ext cx="3520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3922776"/>
            <a:ext cx="73152" cy="1005840"/>
          </a:xfrm>
          <a:prstGeom prst="rect">
            <a:avLst/>
          </a:prstGeom>
          <a:solidFill>
            <a:srgbClr val="3DA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03250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DA35D"/>
                </a:solidFill>
                <a:latin typeface="Calibri"/>
              </a:rPr>
              <a:t>$ 480 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5171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Annualised savings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5038344"/>
            <a:ext cx="3520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5038344"/>
            <a:ext cx="73152" cy="10058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514807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Calibri"/>
              </a:rPr>
              <a:t>4.2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56327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0A0"/>
                </a:solidFill>
                <a:latin typeface="Calibri"/>
              </a:rPr>
              <a:t>Payback on premium spec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C90A0"/>
                </a:solidFill>
                <a:latin typeface="Calibri"/>
              </a:rPr>
              <a:t>Note: Customer name withheld under NDA; figures are actual within ±5%.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05 · 3-YEAR TCO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Premium spec is the cheaper line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91640"/>
          <a:ext cx="7863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458200" y="1691640"/>
            <a:ext cx="3291840" cy="4297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3-YEAR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19456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2A93B"/>
                </a:solidFill>
                <a:latin typeface="Calibri"/>
              </a:rPr>
              <a:t>$ 860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 float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3703320"/>
            <a:ext cx="2926080" cy="2743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8404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−46% TCO vs low-cost import baseline. Most of the gap comes from avoided downtime, not capex.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C90A0"/>
                </a:solidFill>
                <a:latin typeface="Calibri"/>
              </a:rPr>
              <a:t>Note: Illustrative model. Plug in your actual line capacity, energy rate, and OEE for a customised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05 · SERVICE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Engineered locally — supported continuously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577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577840" cy="7315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APAC depot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11 stocking depots — Shanghai, Tianjin, Mumbai, Chennai, Bangkok, Jakarta, Ho Chi Minh, Manila, KL, Tokyo, Seoul. 48-hour spare delivery for stock SKUs.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577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577840" cy="7315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On-site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Belt-survey &amp; install crew on call. Splicing, pulley alignment, tracking tune-up included with first commissioning.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5577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5577840" cy="7315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Predictive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Optional IoT sensor pack: belt temperature, elongation, lateral drift. Alerts pushed to your CMMS (SAP PM, Maximo, Infor).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069080"/>
            <a:ext cx="5577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069080"/>
            <a:ext cx="5577840" cy="7315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297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Training &amp; SOPs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800600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Annual on-site maintenance training; bilingual (EN + local) SOPs for every installed belt family.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05 · ROADMAP — SMART &amp; SUSTAINABLE BELTS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</a:rPr>
              <a:t>What's coming in the next 12–24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5486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7472" y="1929384"/>
            <a:ext cx="219456" cy="21945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Smart-Belt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Embedded fibre-optic sensing for hot-end belts; live elongation + temperature.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4096512" y="1929384"/>
            <a:ext cx="219456" cy="21945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3220" y="24688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6100" y="26060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Q1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610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Closed-loop recycling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100" y="352044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Take-back program for end-of-life PU and rubber belts; reformulated compounds.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1929384"/>
            <a:ext cx="219456" cy="21945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52260" y="24688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5140" y="26060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Q3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514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Bio-based aramid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5140" y="352044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30% bio-content para-aramid weave for hot-end conveying, equal heat rating.</a:t>
            </a:r>
          </a:p>
        </p:txBody>
      </p:sp>
      <p:sp>
        <p:nvSpPr>
          <p:cNvPr id="22" name="Oval 21"/>
          <p:cNvSpPr/>
          <p:nvPr/>
        </p:nvSpPr>
        <p:spPr>
          <a:xfrm>
            <a:off x="11594592" y="1929384"/>
            <a:ext cx="219456" cy="21945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24688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6060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A93B"/>
                </a:solidFill>
                <a:latin typeface="Calibri"/>
              </a:rPr>
              <a:t>Q1 2028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Predictive twin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52044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Per-line digital twin estimating remaining useful life, integrated with CMMS.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85216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91072" y="0"/>
            <a:ext cx="109728" cy="6858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93B"/>
                </a:solidFill>
                <a:latin typeface="Calibri"/>
              </a:rPr>
              <a:t>06 ·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760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2545"/>
                </a:solidFill>
                <a:latin typeface="Calibri"/>
              </a:rPr>
              <a:t>Let's prove it on one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93B"/>
                </a:solidFill>
                <a:latin typeface="Calibri"/>
              </a:rPr>
              <a:t>90-DAY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Free belt-line audit on one selected float / container line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DB-AR 260 + matched DB-V Wedge installed at our cost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IoT instrumentation + monthly performance read-out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Pre-agreed KPIs: MTBF, downtime hours, $/tonne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A93B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Rollout proposal at day 90 — go/no-go on your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A93B"/>
                </a:solidFill>
                <a:latin typeface="Calibri"/>
              </a:rPr>
              <a:t>TALK TO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00584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Schedule the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194560"/>
            <a:ext cx="5303520" cy="3657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8C0CC"/>
                </a:solidFill>
                <a:latin typeface="Calibri"/>
              </a:rPr>
              <a:t>APAC Industrial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sales.apac@dynamicbelt.example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8C0CC"/>
                </a:solidFill>
                <a:latin typeface="Calibri"/>
              </a:rPr>
              <a:t>Hot-End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20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hotend.eng@dynamicbelt.example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8C0CC"/>
                </a:solidFill>
                <a:latin typeface="Calibri"/>
              </a:rPr>
              <a:t>Service &amp; Spare Belts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service.apac@dynamicbelt.example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8C0CC"/>
                </a:solidFill>
                <a:latin typeface="Calibri"/>
              </a:rPr>
              <a:t>Phone (24×7 plant 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74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+65 6000 0000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852160"/>
            <a:ext cx="5303520" cy="36576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943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2A93B"/>
                </a:solidFill>
                <a:latin typeface="Calibri"/>
              </a:rPr>
              <a:t>Dynamic Belt — Engineered for Glass.  Proven in APAC.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46520"/>
            <a:ext cx="11277569" cy="9144"/>
          </a:xfrm>
          <a:prstGeom prst="rect">
            <a:avLst/>
          </a:prstGeom>
          <a:solidFill>
            <a:srgbClr val="7C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112775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C90A0"/>
                </a:solidFill>
                <a:latin typeface="Calibri"/>
              </a:rPr>
              <a:t>Dynamic Belt   |   Confidential — for discussion only   |   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